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91440" cy="685800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3327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00A3A1"/>
                </a:solidFill>
                <a:latin typeface="Calibri"/>
              </a:rPr>
              <a:t>MLIR / XeGPU BACKEND FOR XE-FORGE</a:t>
            </a:r>
          </a:p>
          <a:p>
            <a:r>
              <a:rPr sz="4000" b="1" i="0">
                <a:solidFill>
                  <a:srgbClr val="FFFFFF"/>
                </a:solidFill>
                <a:latin typeface="Calibri"/>
              </a:rPr>
              <a:t>Bringing the Xe-Forge optimization loop</a:t>
            </a:r>
          </a:p>
          <a:p>
            <a:pPr>
              <a:spcAft>
                <a:spcPts val="1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to MLIR on Intel Xe2 “Battlemage”</a:t>
            </a:r>
          </a:p>
          <a:p>
            <a:r>
              <a:rPr sz="1800" b="0" i="0">
                <a:solidFill>
                  <a:srgbClr val="B6C2D2"/>
                </a:solidFill>
                <a:latin typeface="Calibri"/>
              </a:rPr>
              <a:t>A 5-part overview — same LLM-driven loop, a new DSL plugged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0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1">
                <a:solidFill>
                  <a:srgbClr val="5B6677"/>
                </a:solidFill>
                <a:latin typeface="Calibri"/>
              </a:rPr>
              <a:t>Companion to docs/mlir_backend_architecture.md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3810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68B5"/>
                </a:solidFill>
                <a:latin typeface="Calibri"/>
              </a:rPr>
              <a:t>SLIDE 1 · THE IDEA</a:t>
            </a:r>
          </a:p>
          <a:p>
            <a:r>
              <a:rPr sz="2600" b="1" i="0">
                <a:solidFill>
                  <a:srgbClr val="1A1F2B"/>
                </a:solidFill>
                <a:latin typeface="Calibri"/>
              </a:rPr>
              <a:t>A DSL-agnostic loop, one new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5276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68B5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1A1F2B"/>
                </a:solidFill>
                <a:latin typeface="Calibri"/>
              </a:rPr>
              <a:t>Xe-Forge, originally:  </a:t>
            </a:r>
            <a:r>
              <a:rPr sz="1500" b="0" i="0">
                <a:solidFill>
                  <a:srgbClr val="1A1F2B"/>
                </a:solidFill>
                <a:latin typeface="Calibri"/>
              </a:rPr>
              <a:t>an LLM-driven optimizer for </a:t>
            </a:r>
            <a:r>
              <a:rPr sz="1500" b="1" i="0">
                <a:solidFill>
                  <a:srgbClr val="0068B5"/>
                </a:solidFill>
                <a:latin typeface="Calibri"/>
              </a:rPr>
              <a:t>Triton</a:t>
            </a:r>
            <a:r>
              <a:rPr sz="1500" b="0" i="0">
                <a:solidFill>
                  <a:srgbClr val="1A1F2B"/>
                </a:solidFill>
                <a:latin typeface="Calibri"/>
              </a:rPr>
              <a:t> kernels on Intel XPU — a multi-stage loop:</a:t>
            </a:r>
          </a:p>
          <a:p>
            <a:pPr lvl="1">
              <a:spcAft>
                <a:spcPts val="1000"/>
              </a:spcAft>
            </a:pPr>
            <a:r>
              <a:rPr sz="1500" b="0" i="1">
                <a:solidFill>
                  <a:srgbClr val="5B6677"/>
                </a:solidFill>
                <a:latin typeface="Consolas"/>
              </a:rPr>
              <a:t>analyze → plan → optimize (verify &amp; retry) → gate on correctness + speedup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0068B5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1A1F2B"/>
                </a:solidFill>
                <a:latin typeface="Calibri"/>
              </a:rPr>
              <a:t>Driven by </a:t>
            </a:r>
            <a:r>
              <a:rPr sz="1500" b="1" i="0">
                <a:solidFill>
                  <a:srgbClr val="0068B5"/>
                </a:solidFill>
                <a:latin typeface="Calibri"/>
              </a:rPr>
              <a:t>CoVeR</a:t>
            </a:r>
            <a:r>
              <a:rPr sz="1500" b="0" i="0">
                <a:solidFill>
                  <a:srgbClr val="1A1F2B"/>
                </a:solidFill>
                <a:latin typeface="Calibri"/>
              </a:rPr>
              <a:t> (Chain of Verification &amp; Refinement) + an Intel-GPU </a:t>
            </a:r>
            <a:r>
              <a:rPr sz="1500" b="1" i="0">
                <a:solidFill>
                  <a:srgbClr val="0068B5"/>
                </a:solidFill>
                <a:latin typeface="Calibri"/>
              </a:rPr>
              <a:t>Knowledge Base</a:t>
            </a:r>
            <a:r>
              <a:rPr sz="1500" b="0" i="0">
                <a:solidFill>
                  <a:srgbClr val="1A1F2B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0068B5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1A1F2B"/>
                </a:solidFill>
                <a:latin typeface="Calibri"/>
              </a:rPr>
              <a:t>What we added:  </a:t>
            </a:r>
            <a:r>
              <a:rPr sz="1500" b="0" i="0">
                <a:solidFill>
                  <a:srgbClr val="1A1F2B"/>
                </a:solidFill>
                <a:latin typeface="Calibri"/>
              </a:rPr>
              <a:t>a fifth DSL — </a:t>
            </a:r>
            <a:r>
              <a:rPr sz="1500" b="1" i="0">
                <a:solidFill>
                  <a:srgbClr val="00A3A1"/>
                </a:solidFill>
                <a:latin typeface="Calibri"/>
              </a:rPr>
              <a:t>MLIR / XeGPU</a:t>
            </a:r>
            <a:r>
              <a:rPr sz="1500" b="0" i="0">
                <a:solidFill>
                  <a:srgbClr val="1A1F2B"/>
                </a:solidFill>
                <a:latin typeface="Calibri"/>
              </a:rPr>
              <a:t>, targeting Intel Xe2 “Battlemage”.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0068B5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1A1F2B"/>
                </a:solidFill>
                <a:latin typeface="Calibri"/>
              </a:rPr>
              <a:t>The bet that paid off:  </a:t>
            </a:r>
            <a:r>
              <a:rPr sz="1500" b="0" i="0">
                <a:solidFill>
                  <a:srgbClr val="1A1F2B"/>
                </a:solidFill>
                <a:latin typeface="Calibri"/>
              </a:rPr>
              <a:t>the optimization loop is </a:t>
            </a:r>
            <a:r>
              <a:rPr sz="1500" b="1" i="0">
                <a:solidFill>
                  <a:srgbClr val="1A1F2B"/>
                </a:solidFill>
                <a:latin typeface="Calibri"/>
              </a:rPr>
              <a:t>DSL-agnostic</a:t>
            </a:r>
            <a:r>
              <a:rPr sz="1500" b="0" i="0">
                <a:solidFill>
                  <a:srgbClr val="1A1F2B"/>
                </a:solidFill>
                <a:latin typeface="Calibri"/>
              </a:rPr>
              <a:t>. MLIR is a </a:t>
            </a:r>
            <a:r>
              <a:rPr sz="1500" b="1" i="1">
                <a:solidFill>
                  <a:srgbClr val="1A1F2B"/>
                </a:solidFill>
                <a:latin typeface="Calibri"/>
              </a:rPr>
              <a:t>plug-in, not a fork</a:t>
            </a:r>
            <a:r>
              <a:rPr sz="1500" b="0" i="0">
                <a:solidFill>
                  <a:srgbClr val="1A1F2B"/>
                </a:solidFill>
                <a:latin typeface="Calibri"/>
              </a:rPr>
              <a:t> — it reuses the analyzer, planner, CoVeR, gating, trial tree and KB framework unchanged, and only swaps the executor and a few DSPy signatures.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440680"/>
            <a:ext cx="10652760" cy="86868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5440680"/>
            <a:ext cx="63500" cy="86868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440680"/>
            <a:ext cx="10149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 i="1">
                <a:solidFill>
                  <a:srgbClr val="003C71"/>
                </a:solidFill>
                <a:latin typeface="Calibri"/>
              </a:rPr>
              <a:t>“Same driver and race strategy; we swapped the engine and fuel.”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3810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68B5"/>
                </a:solidFill>
                <a:latin typeface="Calibri"/>
              </a:rPr>
              <a:t>SLIDE 2 · WHAT'S THE SAME</a:t>
            </a:r>
          </a:p>
          <a:p>
            <a:r>
              <a:rPr sz="2600" b="1" i="0">
                <a:solidFill>
                  <a:srgbClr val="1A1F2B"/>
                </a:solidFill>
                <a:latin typeface="Calibri"/>
              </a:rPr>
              <a:t>MLIR inherits the entire Xe-Forge spine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4480560" cy="566928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57800" y="1691640"/>
            <a:ext cx="6172200" cy="566928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Reused component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691640"/>
            <a:ext cx="5897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Why it just 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58568"/>
            <a:ext cx="4480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57800" y="2258568"/>
            <a:ext cx="6172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58568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1A1F2B"/>
                </a:solidFill>
                <a:latin typeface="Calibri"/>
              </a:rPr>
              <a:t>CoVeR verify-and-revise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258568"/>
            <a:ext cx="5897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5B6677"/>
                </a:solidFill>
                <a:latin typeface="Calibri"/>
              </a:rPr>
              <a:t>takes a signature + a verify tool; doesn't care about DSL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25496"/>
            <a:ext cx="4480560" cy="566928"/>
          </a:xfrm>
          <a:prstGeom prst="rect">
            <a:avLst/>
          </a:prstGeom>
          <a:solidFill>
            <a:srgbClr val="F3F6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57800" y="2825496"/>
            <a:ext cx="6172200" cy="566928"/>
          </a:xfrm>
          <a:prstGeom prst="rect">
            <a:avLst/>
          </a:prstGeom>
          <a:solidFill>
            <a:srgbClr val="F3F6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825496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1A1F2B"/>
                </a:solidFill>
                <a:latin typeface="Calibri"/>
              </a:rPr>
              <a:t>PlannerAgent (issue → stage plan)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825496"/>
            <a:ext cx="5897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5B6677"/>
                </a:solidFill>
                <a:latin typeface="Calibri"/>
              </a:rPr>
              <a:t>fully DSL-agnostic, zero DSL references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392424"/>
            <a:ext cx="4480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57800" y="3392424"/>
            <a:ext cx="6172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392424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1A1F2B"/>
                </a:solidFill>
                <a:latin typeface="Calibri"/>
              </a:rPr>
              <a:t>Analyzer / Optimizer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392424"/>
            <a:ext cx="5897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5B6677"/>
                </a:solidFill>
                <a:latin typeface="Calibri"/>
              </a:rPr>
              <a:t>hold 3 signatures each; pick the MLIR one by self.dsl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959352"/>
            <a:ext cx="4480560" cy="566928"/>
          </a:xfrm>
          <a:prstGeom prst="rect">
            <a:avLst/>
          </a:prstGeom>
          <a:solidFill>
            <a:srgbClr val="F3F6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57800" y="3959352"/>
            <a:ext cx="6172200" cy="566928"/>
          </a:xfrm>
          <a:prstGeom prst="rect">
            <a:avLst/>
          </a:prstGeom>
          <a:solidFill>
            <a:srgbClr val="F3F6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959352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1A1F2B"/>
                </a:solidFill>
                <a:latin typeface="Calibri"/>
              </a:rPr>
              <a:t>Stage enum, issue taxonomy, best-of-k, gating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959352"/>
            <a:ext cx="5897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5B6677"/>
                </a:solidFill>
                <a:latin typeface="Calibri"/>
              </a:rPr>
              <a:t>shared code  (_MIN_IMPROVEMENT = 1.02)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526280"/>
            <a:ext cx="4480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57800" y="4526280"/>
            <a:ext cx="6172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26280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1A1F2B"/>
                </a:solidFill>
                <a:latin typeface="Calibri"/>
              </a:rPr>
              <a:t>KB framework (load / format / resolve)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526280"/>
            <a:ext cx="5897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5B6677"/>
                </a:solidFill>
                <a:latin typeface="Calibri"/>
              </a:rPr>
              <a:t>content scoped per-DSL directory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093208"/>
            <a:ext cx="4480560" cy="566928"/>
          </a:xfrm>
          <a:prstGeom prst="rect">
            <a:avLst/>
          </a:prstGeom>
          <a:solidFill>
            <a:srgbClr val="F3F6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57800" y="5093208"/>
            <a:ext cx="6172200" cy="566928"/>
          </a:xfrm>
          <a:prstGeom prst="rect">
            <a:avLst/>
          </a:prstGeom>
          <a:solidFill>
            <a:srgbClr val="F3F6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093208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1A1F2B"/>
                </a:solidFill>
                <a:latin typeface="Calibri"/>
              </a:rPr>
              <a:t>common/ KB (algorithmic + correctness)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5093208"/>
            <a:ext cx="5897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5B6677"/>
                </a:solidFill>
                <a:latin typeface="Calibri"/>
              </a:rPr>
              <a:t>loaded for every DSL, MLIR included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769864"/>
            <a:ext cx="10652760" cy="64008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769864"/>
            <a:ext cx="63500" cy="64008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769864"/>
            <a:ext cx="10195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00A3A1"/>
                </a:solidFill>
                <a:latin typeface="Calibri"/>
              </a:rPr>
              <a:t>Core cost of adding MLIR: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one DSL value (DSL.MLIR) + one new stage (LINALG_LOWERING).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3810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68B5"/>
                </a:solidFill>
                <a:latin typeface="Calibri"/>
              </a:rPr>
              <a:t>SLIDE 3 · WHAT'S DIFFERENT</a:t>
            </a:r>
          </a:p>
          <a:p>
            <a:r>
              <a:rPr sz="2600" b="1" i="0">
                <a:solidFill>
                  <a:srgbClr val="1A1F2B"/>
                </a:solidFill>
                <a:latin typeface="Calibri"/>
              </a:rPr>
              <a:t>Only three structural divergences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01568" cy="3977639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401568" cy="128016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67128"/>
            <a:ext cx="658368" cy="658368"/>
          </a:xfrm>
          <a:prstGeom prst="ellipse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990088"/>
            <a:ext cx="28895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3C71"/>
                </a:solidFill>
                <a:latin typeface="Calibri"/>
              </a:rPr>
              <a:t>Self-contained correctness oracle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4069080"/>
            <a:ext cx="288950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5B6677"/>
                </a:solidFill>
                <a:latin typeface="Calibri"/>
              </a:rPr>
              <a:t>No PyTorch. The kernel carries its own @main harness with an in-file CPU reference and prints [ALLCLOSE: TRUE]. Core stays torch-free. The optimizer edits only the gpu.module / #xegpu.layout / launch geometry — never the harness.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8264" y="1783080"/>
            <a:ext cx="3401568" cy="3977639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83080"/>
            <a:ext cx="3401568" cy="128016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54296" y="2167128"/>
            <a:ext cx="658368" cy="658368"/>
          </a:xfrm>
          <a:prstGeom prst="ellipse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990088"/>
            <a:ext cx="28895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3C71"/>
                </a:solidFill>
                <a:latin typeface="Calibri"/>
              </a:rPr>
              <a:t>LINALG_LOWERING — a pre-stage with no Triton analog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4069080"/>
            <a:ext cx="288950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5B6677"/>
                </a:solidFill>
                <a:latin typeface="Calibri"/>
              </a:rPr>
              <a:t>MLIR kernels can arrive as high-level linalg and must be lowered to workgroup-level XeGPU first. Lowering is itself an optimization (tile-search), so it's a first-class stage that runs before analysis.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9288" y="1783080"/>
            <a:ext cx="3401568" cy="3977639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9288" y="1783080"/>
            <a:ext cx="3401568" cy="128016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75320" y="2167128"/>
            <a:ext cx="658368" cy="658368"/>
          </a:xfrm>
          <a:prstGeom prst="ellipse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990088"/>
            <a:ext cx="28895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3C71"/>
                </a:solidFill>
                <a:latin typeface="Calibri"/>
              </a:rPr>
              <a:t>GRF_SWEEP — a correctness-free device knob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069080"/>
            <a:ext cx="288950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5B6677"/>
                </a:solidFill>
                <a:latin typeface="Calibri"/>
              </a:rPr>
              <a:t>Run the same IR with / without the IGC large-register-file flag, keep the faster. A compile flag, not an IR edit → correctness untouched.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89320"/>
            <a:ext cx="10652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1">
                <a:solidFill>
                  <a:srgbClr val="1A1F2B"/>
                </a:solidFill>
                <a:latin typeface="Calibri"/>
              </a:rPr>
              <a:t>Everything else in the loop is the same code the Triton path runs.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3810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68B5"/>
                </a:solidFill>
                <a:latin typeface="Calibri"/>
              </a:rPr>
              <a:t>SLIDE 4 · THE TWO-LEVEL MLIR FLOW</a:t>
            </a:r>
          </a:p>
          <a:p>
            <a:r>
              <a:rPr sz="2600" b="1" i="0">
                <a:solidFill>
                  <a:srgbClr val="1A1F2B"/>
                </a:solidFill>
                <a:latin typeface="Calibri"/>
              </a:rPr>
              <a:t>Lower first, then optimize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2395728" cy="9144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A1F2B"/>
                </a:solidFill>
                <a:latin typeface="Consolas"/>
              </a:rPr>
              <a:t>linalg.matmul</a:t>
            </a:r>
          </a:p>
          <a:p>
            <a:pPr algn="ctr"/>
            <a:r>
              <a:rPr sz="1050" b="0" i="1">
                <a:solidFill>
                  <a:srgbClr val="1A1F2B"/>
                </a:solidFill>
                <a:latin typeface="Calibri"/>
              </a:rPr>
              <a:t>high level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11372" y="2002536"/>
            <a:ext cx="310896" cy="292608"/>
          </a:xfrm>
          <a:prstGeom prst="rightArrow">
            <a:avLst/>
          </a:prstGeom>
          <a:solidFill>
            <a:srgbClr val="5B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57016" y="1691640"/>
            <a:ext cx="2395728" cy="914400"/>
          </a:xfrm>
          <a:prstGeom prst="roundRect">
            <a:avLst/>
          </a:prstGeom>
          <a:solidFill>
            <a:srgbClr val="0068B5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LEVEL 1: LOWER</a:t>
            </a:r>
          </a:p>
          <a:p>
            <a:pPr algn="ctr"/>
            <a:r>
              <a:rPr sz="1050" b="0" i="1">
                <a:solidFill>
                  <a:srgbClr val="FFFFFF"/>
                </a:solidFill>
                <a:latin typeface="Calibri"/>
              </a:rPr>
              <a:t>tile-search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91148" y="2002536"/>
            <a:ext cx="310896" cy="292608"/>
          </a:xfrm>
          <a:prstGeom prst="rightArrow">
            <a:avLst/>
          </a:prstGeom>
          <a:solidFill>
            <a:srgbClr val="5B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36792" y="1691640"/>
            <a:ext cx="2395728" cy="9144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A1F2B"/>
                </a:solidFill>
                <a:latin typeface="Consolas"/>
              </a:rPr>
              <a:t>xegpu WG kernel</a:t>
            </a:r>
          </a:p>
          <a:p>
            <a:pPr algn="ctr"/>
            <a:r>
              <a:rPr sz="1050" b="0" i="1">
                <a:solidFill>
                  <a:srgbClr val="1A1F2B"/>
                </a:solidFill>
                <a:latin typeface="Calibri"/>
              </a:rPr>
              <a:t>@main + [ALLCLOSE]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70924" y="2002536"/>
            <a:ext cx="310896" cy="292608"/>
          </a:xfrm>
          <a:prstGeom prst="rightArrow">
            <a:avLst/>
          </a:prstGeom>
          <a:solidFill>
            <a:srgbClr val="5B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16568" y="1691640"/>
            <a:ext cx="2395728" cy="914400"/>
          </a:xfrm>
          <a:prstGeom prst="roundRect">
            <a:avLst/>
          </a:prstGeom>
          <a:solidFill>
            <a:srgbClr val="00A3A1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LEVEL 2: OPTIMIZE</a:t>
            </a:r>
          </a:p>
          <a:p>
            <a:pPr algn="ctr"/>
            <a:r>
              <a:rPr sz="1050" b="0" i="1">
                <a:solidFill>
                  <a:srgbClr val="FFFFFF"/>
                </a:solidFill>
                <a:latin typeface="Calibri"/>
              </a:rPr>
              <a:t>shared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106527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068B5"/>
                </a:solidFill>
                <a:latin typeface="Calibri"/>
              </a:rPr>
              <a:t>Level 1 — Lowering </a:t>
            </a:r>
            <a:r>
              <a:rPr sz="1400" b="0" i="0">
                <a:solidFill>
                  <a:srgbClr val="1A1F2B"/>
                </a:solidFill>
                <a:latin typeface="Calibri"/>
              </a:rPr>
              <a:t>(_maybe_lower_linalg), routed by structure: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0A3A1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A1F2B"/>
                </a:solidFill>
                <a:latin typeface="Calibri"/>
              </a:rPr>
              <a:t>matmul / MLP</a:t>
            </a:r>
            <a:r>
              <a:rPr sz="1350" b="0" i="0">
                <a:solidFill>
                  <a:srgbClr val="1A1F2B"/>
                </a:solidFill>
                <a:latin typeface="Calibri"/>
              </a:rPr>
              <a:t> → native 3-stage lowering (tile+vectorize → outline+attach-target → WG layout), a 5-knob LoweringConfig. Tile-search is </a:t>
            </a:r>
            <a:r>
              <a:rPr sz="1350" b="1" i="0">
                <a:solidFill>
                  <a:srgbClr val="00A3A1"/>
                </a:solidFill>
                <a:latin typeface="Calibri"/>
              </a:rPr>
              <a:t>hybrid</a:t>
            </a:r>
            <a:r>
              <a:rPr sz="1350" b="0" i="0">
                <a:solidFill>
                  <a:srgbClr val="1A1F2B"/>
                </a:solidFill>
                <a:latin typeface="Calibri"/>
              </a:rPr>
              <a:t>: LLM shortlists KB-seeded configs → each timed on GPU → fastest correct wins, with a lighthouse second opinion.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00A3A1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A1F2B"/>
                </a:solidFill>
                <a:latin typeface="Calibri"/>
              </a:rPr>
              <a:t>attention / softmax / layer-norm</a:t>
            </a:r>
            <a:r>
              <a:rPr sz="1350" b="0" i="0">
                <a:solidFill>
                  <a:srgbClr val="1A1F2B"/>
                </a:solidFill>
                <a:latin typeface="Calibri"/>
              </a:rPr>
              <a:t> → lighthouse dump-only backend (upstream llvm/lighthouse schedules).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00A3A1"/>
                </a:solidFill>
                <a:latin typeface="Calibri"/>
              </a:rPr>
              <a:t>Level 2 — Optimize:  </a:t>
            </a:r>
            <a:r>
              <a:rPr sz="1400" b="0" i="0">
                <a:solidFill>
                  <a:srgbClr val="1A1F2B"/>
                </a:solidFill>
                <a:latin typeface="Calibri"/>
              </a:rPr>
              <a:t>the standard analyze → plan → CoVeR-optimize → gate loop runs on the WG kernel.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715000"/>
            <a:ext cx="10652760" cy="77724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5715000"/>
            <a:ext cx="63500" cy="77724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715000"/>
            <a:ext cx="10149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0068B5"/>
                </a:solidFill>
                <a:latin typeface="Calibri"/>
              </a:rPr>
              <a:t>Correctness hardening: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a lowered-IR-equivalence guard rejects no-op edits — identical lowered IR ⇒ dead-code noise (caught a phantom 1.68× from a DCE-eliminated prefetch).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3810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68B5"/>
                </a:solidFill>
                <a:latin typeface="Calibri"/>
              </a:rPr>
              <a:t>SLIDE 5 · KNOWLEDGE BASE &amp; WHERE NEXT</a:t>
            </a:r>
          </a:p>
          <a:p>
            <a:r>
              <a:rPr sz="2600" b="1" i="0">
                <a:solidFill>
                  <a:srgbClr val="1A1F2B"/>
                </a:solidFill>
                <a:latin typeface="Calibri"/>
              </a:rPr>
              <a:t>Layered KB, and the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8064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0068B5"/>
                </a:solidFill>
                <a:latin typeface="Calibri"/>
              </a:rPr>
              <a:t>KB layering</a:t>
            </a:r>
            <a:r>
              <a:rPr sz="1250" b="0" i="0">
                <a:solidFill>
                  <a:srgbClr val="5B6677"/>
                </a:solidFill>
                <a:latin typeface="Consolas"/>
              </a:rPr>
              <a:t>   common/ → &lt;dsl&gt;/common/ → &lt;dsl&gt;/&lt;device&gt;/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068B5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1A1F2B"/>
                </a:solidFill>
                <a:latin typeface="Calibri"/>
              </a:rPr>
              <a:t>Shared today: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 common/algorithmic_patterns.yaml, correctness.yaml — MLIR gets them free.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068B5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1A1F2B"/>
                </a:solidFill>
                <a:latin typeface="Calibri"/>
              </a:rPr>
              <a:t>MLIR-specific: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 mlir/xpu/* (WG DPAS / layout / memory) and mlir/linalg/* (lowering seeds).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068B5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1A1F2B"/>
                </a:solidFill>
                <a:latin typeface="Calibri"/>
              </a:rPr>
              <a:t>New KB feature (reusable):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 a precondition field so a pattern (e.g. xegpu_add_prefetch_nd) fires only when it applies.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068B5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1A1F2B"/>
                </a:solidFill>
                <a:latin typeface="Calibri"/>
              </a:rPr>
              <a:t>Overlap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 (SIMD16, f32-accum, DPAS shapes, GRF) is re-expressed per DSL — a refactor opportunity.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12280" y="1737360"/>
            <a:ext cx="4617720" cy="370332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12280" y="1737360"/>
            <a:ext cx="4617720" cy="4572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737360"/>
            <a:ext cx="4160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Forward paths (by leverage)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68312" y="2377440"/>
            <a:ext cx="4105656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50" b="1" i="0">
                <a:solidFill>
                  <a:srgbClr val="00A3A1"/>
                </a:solidFill>
                <a:latin typeface="Calibri"/>
              </a:rPr>
              <a:t>1.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Real xegpu.prefetch_nd for vector-dialect kernels (make transfer_reads lower to load_nd).</a:t>
            </a:r>
          </a:p>
          <a:p>
            <a:pPr>
              <a:spcAft>
                <a:spcPts val="900"/>
              </a:spcAft>
            </a:pPr>
            <a:r>
              <a:rPr sz="1350" b="1" i="0">
                <a:solidFill>
                  <a:srgbClr val="00A3A1"/>
                </a:solidFill>
                <a:latin typeface="Calibri"/>
              </a:rPr>
              <a:t>2.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Refactor shared hardware facts into common/hardware_xe.yaml.</a:t>
            </a:r>
          </a:p>
          <a:p>
            <a:pPr>
              <a:spcAft>
                <a:spcPts val="900"/>
              </a:spcAft>
            </a:pPr>
            <a:r>
              <a:rPr sz="1350" b="1" i="0">
                <a:solidFill>
                  <a:srgbClr val="00A3A1"/>
                </a:solidFill>
                <a:latin typeface="Calibri"/>
              </a:rPr>
              <a:t>3.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Native lowering for attention / softmax / layer-norm (off lighthouse).</a:t>
            </a:r>
          </a:p>
          <a:p>
            <a:pPr>
              <a:spcAft>
                <a:spcPts val="900"/>
              </a:spcAft>
            </a:pPr>
            <a:r>
              <a:rPr sz="1350" b="1" i="0">
                <a:solidFill>
                  <a:srgbClr val="00A3A1"/>
                </a:solidFill>
                <a:latin typeface="Calibri"/>
              </a:rPr>
              <a:t>4.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MLIR support in the ReAct strategy (currently CoVeR-only).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623560"/>
            <a:ext cx="10652760" cy="91440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5623560"/>
            <a:ext cx="63500" cy="91440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62356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00A3A1"/>
                </a:solidFill>
                <a:latin typeface="Calibri"/>
              </a:rPr>
              <a:t>Bottom line: 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the Xe-Forge loop generalizes beyond Triton. MLIR runs end-to-end on real GPU — two-level flow, self-contained oracle, verified speedups — for one DSL value, one new stage, a dedicated executor, and DSL-scoped KB.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